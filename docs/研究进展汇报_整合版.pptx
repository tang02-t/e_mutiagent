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5"/>
  </p:normalViewPr>
  <p:slideViewPr>
    <p:cSldViewPr snapToGrid="0" snapToObjects="1">
      <p:cViewPr varScale="1">
        <p:scale>
          <a:sx n="118" d="100"/>
          <a:sy n="118" d="100"/>
        </p:scale>
        <p:origin x="55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300" b="1" i="0">
                <a:solidFill>
                  <a:srgbClr val="7E4381"/>
                </a:solidFill>
                <a:latin typeface="微软雅黑"/>
              </a:rPr>
              <a:t>系统架构：四层架构与多智能体协作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4128"/>
            <a:ext cx="10725912" cy="19050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54335" y="411480"/>
            <a:ext cx="1188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1400" b="0" i="0">
                <a:solidFill>
                  <a:srgbClr val="6C757D"/>
                </a:solidFill>
                <a:latin typeface="微软雅黑"/>
              </a:rPr>
              <a:t>/ 架构设计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5912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 i="0">
                <a:solidFill>
                  <a:srgbClr val="7E4381"/>
                </a:solidFill>
                <a:latin typeface="微软雅黑"/>
              </a:rPr>
              <a:t>核心思想：</a:t>
            </a:r>
            <a:r>
              <a:rPr sz="1400" b="0" i="0">
                <a:solidFill>
                  <a:srgbClr val="495057"/>
                </a:solidFill>
                <a:latin typeface="微软雅黑"/>
              </a:rPr>
              <a:t>将变压器故障诊断的专家决策过程，解构为四个职责单一的智能体，以 LangGraph 图式编排实现协作与质量闭环。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6675120" cy="841248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65959"/>
            <a:ext cx="6400800" cy="7132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212529"/>
                </a:solidFill>
                <a:latin typeface="微软雅黑"/>
              </a:rPr>
              <a:t>用户查询层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495057"/>
                </a:solidFill>
                <a:latin typeface="微软雅黑"/>
              </a:rPr>
              <a:t>变压器故障描述 / DGA 数据 / 设备上下文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07207"/>
            <a:ext cx="6675120" cy="841248"/>
          </a:xfrm>
          <a:prstGeom prst="roundRect">
            <a:avLst/>
          </a:prstGeom>
          <a:solidFill>
            <a:srgbClr val="F3ECF4"/>
          </a:solidFill>
          <a:ln w="16510">
            <a:solidFill>
              <a:srgbClr val="7E4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7"/>
            <a:ext cx="6400800" cy="7132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5E3061"/>
                </a:solidFill>
                <a:latin typeface="微软雅黑"/>
              </a:rPr>
              <a:t>智能体编排层 (LangGraph)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495057"/>
                </a:solidFill>
                <a:latin typeface="微软雅黑"/>
              </a:rPr>
              <a:t>Planner → Retriever → Generator → Validator（带质量闭环）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39895"/>
            <a:ext cx="6675120" cy="841248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831335"/>
            <a:ext cx="6400800" cy="7132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212529"/>
                </a:solidFill>
                <a:latin typeface="微软雅黑"/>
              </a:rPr>
              <a:t>工具能力层 (MCP Client)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495057"/>
                </a:solidFill>
                <a:latin typeface="微软雅黑"/>
              </a:rPr>
              <a:t>rag_search · fault_attribution · ett_forecast · timeseries_anomaly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72583"/>
            <a:ext cx="6675120" cy="8412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764023"/>
            <a:ext cx="6400800" cy="7132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212529"/>
                </a:solidFill>
                <a:latin typeface="微软雅黑"/>
              </a:rPr>
              <a:t>基础设施层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495057"/>
                </a:solidFill>
                <a:latin typeface="微软雅黑"/>
              </a:rPr>
              <a:t>Milvus 向量库 · DashScope LLM/Embedding · ETT 数据集 · 知识库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892807"/>
            <a:ext cx="50800" cy="29260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27264" y="1874519"/>
            <a:ext cx="3566159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212529"/>
                </a:solidFill>
                <a:latin typeface="微软雅黑"/>
              </a:rPr>
              <a:t>四个核心智能体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331720"/>
            <a:ext cx="3776472" cy="841248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80960" y="2331720"/>
            <a:ext cx="63500" cy="84124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7" y="2423160"/>
            <a:ext cx="3520440" cy="7132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7E4381"/>
                </a:solidFill>
                <a:latin typeface="微软雅黑"/>
              </a:rPr>
              <a:t>Planner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495057"/>
                </a:solidFill>
                <a:latin typeface="微软雅黑"/>
              </a:rPr>
              <a:t>策略规划：意图分析、任务分解、工具决策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264408"/>
            <a:ext cx="3776472" cy="841248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80960" y="3264408"/>
            <a:ext cx="63500" cy="84124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82127" y="3355848"/>
            <a:ext cx="3520440" cy="7132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7E4381"/>
                </a:solidFill>
                <a:latin typeface="微软雅黑"/>
              </a:rPr>
              <a:t>Retriever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495057"/>
                </a:solidFill>
                <a:latin typeface="微软雅黑"/>
              </a:rPr>
              <a:t>检索编排：并行调用工具，聚合多源证据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197096"/>
            <a:ext cx="3776472" cy="841248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80960" y="4197096"/>
            <a:ext cx="63500" cy="84124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82127" y="4288536"/>
            <a:ext cx="3520440" cy="7132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7E4381"/>
                </a:solidFill>
                <a:latin typeface="微软雅黑"/>
              </a:rPr>
              <a:t>Generator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495057"/>
                </a:solidFill>
                <a:latin typeface="微软雅黑"/>
              </a:rPr>
              <a:t>诊断生成：综合证据撰写诊断与建议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5129784"/>
            <a:ext cx="3776472" cy="841248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80960" y="5129784"/>
            <a:ext cx="63500" cy="84124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82127" y="5221224"/>
            <a:ext cx="3520440" cy="7132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7E4381"/>
                </a:solidFill>
                <a:latin typeface="微软雅黑"/>
              </a:rPr>
              <a:t>Validator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495057"/>
                </a:solidFill>
                <a:latin typeface="微软雅黑"/>
              </a:rPr>
              <a:t>质量验证：结构化评估，驱动迭代闭环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300" b="1" i="0">
                <a:solidFill>
                  <a:srgbClr val="7E4381"/>
                </a:solidFill>
                <a:latin typeface="微软雅黑"/>
              </a:rPr>
              <a:t>工作流编排：LangGraph 图式协作与质量闭环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4128"/>
            <a:ext cx="10725912" cy="19050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54335" y="411480"/>
            <a:ext cx="1188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1400" b="0" i="0">
                <a:solidFill>
                  <a:srgbClr val="6C757D"/>
                </a:solidFill>
                <a:latin typeface="微软雅黑"/>
              </a:rPr>
              <a:t>/ 架构设计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50800" cy="29260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280160"/>
            <a:ext cx="1051560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212529"/>
                </a:solidFill>
                <a:latin typeface="微软雅黑"/>
              </a:rPr>
              <a:t>诊断工作流（带条件路由迭代）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2286000" cy="914400"/>
          </a:xfrm>
          <a:prstGeom prst="roundRect">
            <a:avLst/>
          </a:prstGeom>
          <a:solidFill>
            <a:srgbClr val="F3ECF4"/>
          </a:solidFill>
          <a:ln w="15240">
            <a:solidFill>
              <a:srgbClr val="7E4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600" b="1" i="0">
                <a:solidFill>
                  <a:srgbClr val="5E3061"/>
                </a:solidFill>
                <a:latin typeface="微软雅黑"/>
              </a:rPr>
              <a:t>Planner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45536" y="2258568"/>
            <a:ext cx="310896" cy="329184"/>
          </a:xfrm>
          <a:prstGeom prst="rightArrow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93008" y="1965960"/>
            <a:ext cx="2286000" cy="914400"/>
          </a:xfrm>
          <a:prstGeom prst="roundRect">
            <a:avLst/>
          </a:prstGeom>
          <a:solidFill>
            <a:srgbClr val="F3ECF4"/>
          </a:solidFill>
          <a:ln w="15240">
            <a:solidFill>
              <a:srgbClr val="7E4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3008" y="196596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600" b="1" i="0">
                <a:solidFill>
                  <a:srgbClr val="5E3061"/>
                </a:solidFill>
                <a:latin typeface="微软雅黑"/>
              </a:rPr>
              <a:t>Retriever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15584" y="2258568"/>
            <a:ext cx="310896" cy="329184"/>
          </a:xfrm>
          <a:prstGeom prst="rightArrow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63056" y="1965960"/>
            <a:ext cx="2286000" cy="914400"/>
          </a:xfrm>
          <a:prstGeom prst="roundRect">
            <a:avLst/>
          </a:prstGeom>
          <a:solidFill>
            <a:srgbClr val="F3ECF4"/>
          </a:solidFill>
          <a:ln w="15240">
            <a:solidFill>
              <a:srgbClr val="7E4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63056" y="196596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600" b="1" i="0">
                <a:solidFill>
                  <a:srgbClr val="5E3061"/>
                </a:solidFill>
                <a:latin typeface="微软雅黑"/>
              </a:rPr>
              <a:t>Generator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85632" y="2258568"/>
            <a:ext cx="310896" cy="329184"/>
          </a:xfrm>
          <a:prstGeom prst="rightArrow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33104" y="1965960"/>
            <a:ext cx="2286000" cy="914400"/>
          </a:xfrm>
          <a:prstGeom prst="roundRect">
            <a:avLst/>
          </a:prstGeom>
          <a:solidFill>
            <a:srgbClr val="F3ECF4"/>
          </a:solidFill>
          <a:ln w="15240">
            <a:solidFill>
              <a:srgbClr val="7E4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33104" y="196596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600" b="1" i="0">
                <a:solidFill>
                  <a:srgbClr val="5E3061"/>
                </a:solidFill>
                <a:latin typeface="微软雅黑"/>
              </a:rPr>
              <a:t>Validator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 i="0">
                <a:solidFill>
                  <a:srgbClr val="D96A2B"/>
                </a:solidFill>
                <a:latin typeface="微软雅黑"/>
              </a:rPr>
              <a:t>↑ 当 Validator 判定为 REVISION 时，携带改进建议回流至 Generator 重新生成（最多 3 轮）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675888"/>
            <a:ext cx="50800" cy="29260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3657600"/>
            <a:ext cx="1051560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212529"/>
                </a:solidFill>
                <a:latin typeface="微软雅黑"/>
              </a:rPr>
              <a:t>Validator 条件路由决策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31520" y="4114800"/>
          <a:ext cx="1072591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验证判定</a:t>
                      </a:r>
                    </a:p>
                  </a:txBody>
                  <a:tcPr>
                    <a:solidFill>
                      <a:srgbClr val="7E43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评分</a:t>
                      </a:r>
                    </a:p>
                  </a:txBody>
                  <a:tcPr>
                    <a:solidFill>
                      <a:srgbClr val="7E43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路由</a:t>
                      </a:r>
                    </a:p>
                  </a:txBody>
                  <a:tcPr>
                    <a:solidFill>
                      <a:srgbClr val="7E43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含义</a:t>
                      </a:r>
                    </a:p>
                  </a:txBody>
                  <a:tcPr>
                    <a:solidFill>
                      <a:srgbClr val="7E43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E4381"/>
                          </a:solidFill>
                          <a:latin typeface="微软雅黑"/>
                        </a:rPr>
                        <a:t>PASS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≥ 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结束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诊断质量合格，直接输出最终诊断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E4381"/>
                          </a:solidFill>
                          <a:latin typeface="微软雅黑"/>
                        </a:rPr>
                        <a:t>REVISION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4 –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返回 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携带改进建议重新生成；达上限则接受并提示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E4381"/>
                          </a:solidFill>
                          <a:latin typeface="微软雅黑"/>
                        </a:rPr>
                        <a:t>FAIL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&lt; 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结束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质量不达标，输出失败提示并建议补充信息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300" b="1" i="0">
                <a:solidFill>
                  <a:srgbClr val="7E4381"/>
                </a:solidFill>
                <a:latin typeface="微软雅黑"/>
              </a:rPr>
              <a:t>数据体系：四类标准化数据集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4128"/>
            <a:ext cx="10725912" cy="19050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54335" y="411480"/>
            <a:ext cx="1188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1400" b="0" i="0">
                <a:solidFill>
                  <a:srgbClr val="6C757D"/>
                </a:solidFill>
                <a:latin typeface="微软雅黑"/>
              </a:rPr>
              <a:t>/ 数据说明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5912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495057"/>
                </a:solidFill>
                <a:latin typeface="微软雅黑"/>
              </a:rPr>
              <a:t>按统一 schema 构建自洽数据集用于方法验证，可用公开真实数据集（Kaggle FDD、IEEE DataPort、ETDataset）按相同格式替换。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257800" cy="182880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63500" cy="1828800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130552"/>
            <a:ext cx="4800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 i="0">
                <a:solidFill>
                  <a:srgbClr val="7E4381"/>
                </a:solidFill>
                <a:latin typeface="微软雅黑"/>
              </a:rPr>
              <a:t>DGA 油色谱数据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4800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600" b="1" i="0">
                <a:solidFill>
                  <a:srgbClr val="5E3061"/>
                </a:solidFill>
                <a:latin typeface="微软雅黑"/>
              </a:rPr>
              <a:t>3000 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00400"/>
            <a:ext cx="4800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495057"/>
                </a:solidFill>
                <a:latin typeface="微软雅黑"/>
              </a:rPr>
              <a:t>含真实故障标签，按三比值法编码区间生成，对接故障归因引擎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65960"/>
            <a:ext cx="5257800" cy="1828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65960"/>
            <a:ext cx="63500" cy="1828800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130552"/>
            <a:ext cx="4800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 i="0">
                <a:solidFill>
                  <a:srgbClr val="7E4381"/>
                </a:solidFill>
                <a:latin typeface="微软雅黑"/>
              </a:rPr>
              <a:t>在线监测时序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06040"/>
            <a:ext cx="4800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600" b="1" i="0">
                <a:solidFill>
                  <a:srgbClr val="5E3061"/>
                </a:solidFill>
                <a:latin typeface="微软雅黑"/>
              </a:rPr>
              <a:t>20 台 × 2000 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200400"/>
            <a:ext cx="4800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495057"/>
                </a:solidFill>
                <a:latin typeface="微软雅黑"/>
              </a:rPr>
              <a:t>列对齐 ETT，含日/周周期与热惯性，对接油温预测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5257800" cy="182880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069080"/>
            <a:ext cx="63500" cy="1828800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233672"/>
            <a:ext cx="4800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 i="0">
                <a:solidFill>
                  <a:srgbClr val="7E4381"/>
                </a:solidFill>
                <a:latin typeface="微软雅黑"/>
              </a:rPr>
              <a:t>故障案例库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09160"/>
            <a:ext cx="4800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600" b="1" i="0">
                <a:solidFill>
                  <a:srgbClr val="5E3061"/>
                </a:solidFill>
                <a:latin typeface="微软雅黑"/>
              </a:rPr>
              <a:t>200 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03520"/>
            <a:ext cx="4800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495057"/>
                </a:solidFill>
                <a:latin typeface="微软雅黑"/>
              </a:rPr>
              <a:t>征兆→试验→定位→处理闭环，用于知识增强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4069080"/>
            <a:ext cx="5257800" cy="1828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9632" y="4069080"/>
            <a:ext cx="63500" cy="1828800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8232" y="4233672"/>
            <a:ext cx="4800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 i="0">
                <a:solidFill>
                  <a:srgbClr val="7E4381"/>
                </a:solidFill>
                <a:latin typeface="微软雅黑"/>
              </a:rPr>
              <a:t>端到端评测集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709160"/>
            <a:ext cx="4800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600" b="1" i="0">
                <a:solidFill>
                  <a:srgbClr val="5E3061"/>
                </a:solidFill>
                <a:latin typeface="微软雅黑"/>
              </a:rPr>
              <a:t>120 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5303520"/>
            <a:ext cx="4800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495057"/>
                </a:solidFill>
                <a:latin typeface="微软雅黑"/>
              </a:rPr>
              <a:t>问题→标准答案，用于系统整体诊断效果评估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300" b="1" i="0">
                <a:solidFill>
                  <a:srgbClr val="7E4381"/>
                </a:solidFill>
                <a:latin typeface="微软雅黑"/>
              </a:rPr>
              <a:t>系统验证：分层评测体系与结果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4128"/>
            <a:ext cx="10725912" cy="19050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54335" y="411480"/>
            <a:ext cx="1188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1400" b="0" i="0">
                <a:solidFill>
                  <a:srgbClr val="6C757D"/>
                </a:solidFill>
                <a:latin typeface="微软雅黑"/>
              </a:rPr>
              <a:t>/ 评测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50800" cy="29260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280160"/>
            <a:ext cx="502920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212529"/>
                </a:solidFill>
                <a:latin typeface="微软雅黑"/>
              </a:rPr>
              <a:t>两层验证体系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21208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63500" cy="914400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8"/>
            <a:ext cx="493776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7E4381"/>
                </a:solidFill>
                <a:latin typeface="微软雅黑"/>
              </a:rPr>
              <a:t>① 故障归因引擎评测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495057"/>
                </a:solidFill>
                <a:latin typeface="微软雅黑"/>
              </a:rPr>
              <a:t>确定性、无 LLM 依赖；用标注 DGA 数据算准确率、F1、分级召回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521208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63500" cy="914400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944368"/>
            <a:ext cx="493776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7E4381"/>
                </a:solidFill>
                <a:latin typeface="微软雅黑"/>
              </a:rPr>
              <a:t>② 端到端系统评测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495057"/>
                </a:solidFill>
                <a:latin typeface="微软雅黑"/>
              </a:rPr>
              <a:t>全流程跑评测集；评估命中率、安全合规率、迭代有效性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41648"/>
            <a:ext cx="50800" cy="29260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4023360"/>
            <a:ext cx="502920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212529"/>
                </a:solidFill>
                <a:latin typeface="微软雅黑"/>
              </a:rPr>
              <a:t>归因引擎关键指标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1645920" cy="1371600"/>
          </a:xfrm>
          <a:prstGeom prst="roundRect">
            <a:avLst/>
          </a:prstGeom>
          <a:solidFill>
            <a:srgbClr val="F0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16459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3000" b="1" i="0">
                <a:solidFill>
                  <a:srgbClr val="2E7D4F"/>
                </a:solidFill>
                <a:latin typeface="微软雅黑"/>
              </a:rPr>
              <a:t>88.5%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40680"/>
            <a:ext cx="164592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495057"/>
                </a:solidFill>
                <a:latin typeface="微软雅黑"/>
              </a:rPr>
              <a:t>Top-3 命中率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4526280"/>
            <a:ext cx="1645920" cy="1371600"/>
          </a:xfrm>
          <a:prstGeom prst="roundRect">
            <a:avLst/>
          </a:prstGeom>
          <a:solidFill>
            <a:srgbClr val="F0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14600" y="4709160"/>
            <a:ext cx="16459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3000" b="1" i="0">
                <a:solidFill>
                  <a:srgbClr val="2E7D4F"/>
                </a:solidFill>
                <a:latin typeface="微软雅黑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440680"/>
            <a:ext cx="164592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495057"/>
                </a:solidFill>
                <a:latin typeface="微软雅黑"/>
              </a:rPr>
              <a:t>高危故障召回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526280"/>
            <a:ext cx="1645920" cy="1371600"/>
          </a:xfrm>
          <a:prstGeom prst="roundRect">
            <a:avLst/>
          </a:prstGeom>
          <a:solidFill>
            <a:srgbClr val="F0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80" y="4709160"/>
            <a:ext cx="16459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3000" b="1" i="0">
                <a:solidFill>
                  <a:srgbClr val="D96A2B"/>
                </a:solidFill>
                <a:latin typeface="微软雅黑"/>
              </a:rPr>
              <a:t>37.9%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440680"/>
            <a:ext cx="164592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495057"/>
                </a:solidFill>
                <a:latin typeface="微软雅黑"/>
              </a:rPr>
              <a:t>Top-1 准确率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298448"/>
            <a:ext cx="50800" cy="29260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1280160"/>
            <a:ext cx="5010912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212529"/>
                </a:solidFill>
                <a:latin typeface="微软雅黑"/>
              </a:rPr>
              <a:t>结果解读与改进方向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193792" cy="41148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011680"/>
            <a:ext cx="4754880" cy="374903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7E4381"/>
                </a:solidFill>
                <a:latin typeface="微软雅黑"/>
              </a:rPr>
              <a:t>● 数据与故障强相关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495057"/>
                </a:solidFill>
                <a:latin typeface="微软雅黑"/>
              </a:rPr>
              <a:t>Top-3 命中率达 88.5%，归因引擎能将真实故障稳定排进前三。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250" b="0" i="0">
              <a:solidFill>
                <a:srgbClr val="495057"/>
              </a:solidFill>
              <a:latin typeface="微软雅黑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7E4381"/>
                </a:solidFill>
                <a:latin typeface="微软雅黑"/>
              </a:rPr>
              <a:t>● 安全底线达标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495057"/>
                </a:solidFill>
                <a:latin typeface="微软雅黑"/>
              </a:rPr>
              <a:t>critical（高危）故障召回率 100%，无高危漏诊。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250" b="0" i="0">
              <a:solidFill>
                <a:srgbClr val="495057"/>
              </a:solidFill>
              <a:latin typeface="微软雅黑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D96A2B"/>
                </a:solidFill>
                <a:latin typeface="微软雅黑"/>
              </a:rPr>
              <a:t>● Top-1 偏低的根因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495057"/>
                </a:solidFill>
                <a:latin typeface="微软雅黑"/>
              </a:rPr>
              <a:t>贝叶斯网络 CPT 为人工标定的近似值，似然连乘对高产气故障存在偏倚。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250" b="0" i="0">
              <a:solidFill>
                <a:srgbClr val="495057"/>
              </a:solidFill>
              <a:latin typeface="微软雅黑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2E7D4F"/>
                </a:solidFill>
                <a:latin typeface="微软雅黑"/>
              </a:rPr>
              <a:t>● 下一步改进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495057"/>
                </a:solidFill>
                <a:latin typeface="微软雅黑"/>
              </a:rPr>
              <a:t>用真实标注数据校准 CPT，提升 Top-1 准确率；接入真实在线监测数据。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300" b="1" i="0">
                <a:solidFill>
                  <a:srgbClr val="7E4381"/>
                </a:solidFill>
                <a:latin typeface="微软雅黑"/>
              </a:rPr>
              <a:t>故障归因方法：三比值法 × 贝叶斯网络混合推理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4128"/>
            <a:ext cx="10725912" cy="19050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54335" y="411480"/>
            <a:ext cx="1188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1400" b="0" i="0">
                <a:solidFill>
                  <a:srgbClr val="6C757D"/>
                </a:solidFill>
                <a:latin typeface="微软雅黑"/>
              </a:rPr>
              <a:t>/ 核心方法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5912" cy="640080"/>
          </a:xfrm>
          <a:prstGeom prst="roundRect">
            <a:avLst/>
          </a:prstGeom>
          <a:solidFill>
            <a:srgbClr val="F3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1033272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 i="0">
                <a:solidFill>
                  <a:srgbClr val="7E4381"/>
                </a:solidFill>
                <a:latin typeface="微软雅黑"/>
              </a:rPr>
              <a:t>核心思想：</a:t>
            </a:r>
            <a:r>
              <a:rPr sz="1400" b="0" i="0">
                <a:solidFill>
                  <a:srgbClr val="495057"/>
                </a:solidFill>
                <a:latin typeface="微软雅黑"/>
              </a:rPr>
              <a:t>以贝叶斯概率推理为主、国标三比值规则为辅，融合二者优势——既可量化故障概率，又符合 DL/T 722 规范、可解释。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21408"/>
            <a:ext cx="50800" cy="29260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103120"/>
            <a:ext cx="493776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212529"/>
                </a:solidFill>
                <a:latin typeface="微软雅黑"/>
              </a:rPr>
              <a:t>为什么要“混合”？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5120640" cy="10058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670048"/>
            <a:ext cx="47548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7E4381"/>
                </a:solidFill>
                <a:latin typeface="微软雅黑"/>
              </a:rPr>
              <a:t>三比值法（DL/T 722 国标）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495057"/>
                </a:solidFill>
                <a:latin typeface="微软雅黑"/>
              </a:rPr>
              <a:t>✓ 可解释、合规　　✗ 仅判定类型、无法量化概率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120640" cy="10058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67328"/>
            <a:ext cx="47548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7E4381"/>
                </a:solidFill>
                <a:latin typeface="微软雅黑"/>
              </a:rPr>
              <a:t>贝叶斯网络（概率推理）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495057"/>
                </a:solidFill>
                <a:latin typeface="微软雅黑"/>
              </a:rPr>
              <a:t>✓ 量化故障概率　　✗ 黑箱、可解释性差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10328"/>
            <a:ext cx="50800" cy="29260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4892040"/>
            <a:ext cx="493776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212529"/>
                </a:solidFill>
                <a:latin typeface="微软雅黑"/>
              </a:rPr>
              <a:t>贝叶斯网络结构（两层有向图）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49240"/>
            <a:ext cx="2286000" cy="91440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7E4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400" b="1" i="0">
                <a:solidFill>
                  <a:srgbClr val="7E4381"/>
                </a:solidFill>
                <a:latin typeface="微软雅黑"/>
              </a:rPr>
              <a:t>故障层 F</a:t>
            </a:r>
          </a:p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150" b="0" i="0">
                <a:solidFill>
                  <a:srgbClr val="6C757D"/>
                </a:solidFill>
                <a:latin typeface="微软雅黑"/>
              </a:rPr>
              <a:t>8 类故障</a:t>
            </a:r>
          </a:p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050" b="0" i="0">
                <a:solidFill>
                  <a:srgbClr val="6C757D"/>
                </a:solidFill>
                <a:latin typeface="微软雅黑"/>
              </a:rPr>
              <a:t>短路/局放/过热…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63240" y="5623560"/>
            <a:ext cx="457200" cy="320040"/>
          </a:xfrm>
          <a:prstGeom prst="rightArrow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566160" y="5349240"/>
            <a:ext cx="2286000" cy="91440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7E4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60" y="534924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400" b="1" i="0">
                <a:solidFill>
                  <a:srgbClr val="7E4381"/>
                </a:solidFill>
                <a:latin typeface="微软雅黑"/>
              </a:rPr>
              <a:t>征兆层 S</a:t>
            </a:r>
          </a:p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150" b="0" i="0">
                <a:solidFill>
                  <a:srgbClr val="6C757D"/>
                </a:solidFill>
                <a:latin typeface="微软雅黑"/>
              </a:rPr>
              <a:t>14 类征兆</a:t>
            </a:r>
          </a:p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050" b="0" i="0">
                <a:solidFill>
                  <a:srgbClr val="6C757D"/>
                </a:solidFill>
                <a:latin typeface="微软雅黑"/>
              </a:rPr>
              <a:t>气体超标/油温升高…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121408"/>
            <a:ext cx="50800" cy="29260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8504" y="2103120"/>
            <a:ext cx="5102352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212529"/>
                </a:solidFill>
                <a:latin typeface="微软雅黑"/>
              </a:rPr>
              <a:t>四步推理流程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578608"/>
            <a:ext cx="5285232" cy="896112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18504" y="2788920"/>
            <a:ext cx="475488" cy="475488"/>
          </a:xfrm>
          <a:prstGeom prst="ellipse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18504" y="2788920"/>
            <a:ext cx="475488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670048"/>
            <a:ext cx="4370832" cy="7498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212529"/>
                </a:solidFill>
                <a:latin typeface="微软雅黑"/>
              </a:rPr>
              <a:t>DGA 三比值法编码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495057"/>
                </a:solidFill>
                <a:latin typeface="微软雅黑"/>
              </a:rPr>
              <a:t>三个气体比值离散编码为 0/1/2，匹配表7故障判据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547872"/>
            <a:ext cx="5285232" cy="896112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18504" y="3758184"/>
            <a:ext cx="475488" cy="475488"/>
          </a:xfrm>
          <a:prstGeom prst="ellipse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18504" y="3758184"/>
            <a:ext cx="475488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639312"/>
            <a:ext cx="4370832" cy="7498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212529"/>
                </a:solidFill>
                <a:latin typeface="微软雅黑"/>
              </a:rPr>
              <a:t>朴素贝叶斯后验推理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495057"/>
                </a:solidFill>
                <a:latin typeface="微软雅黑"/>
              </a:rPr>
              <a:t>由先验 P(F) 与条件概率表 CPT 计算后验并归一化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517136"/>
            <a:ext cx="5285232" cy="896112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18504" y="4727448"/>
            <a:ext cx="475488" cy="475488"/>
          </a:xfrm>
          <a:prstGeom prst="ellipse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18504" y="4727448"/>
            <a:ext cx="475488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608576"/>
            <a:ext cx="4370832" cy="7498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212529"/>
                </a:solidFill>
                <a:latin typeface="微软雅黑"/>
              </a:rPr>
              <a:t>规则—概率融合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495057"/>
                </a:solidFill>
                <a:latin typeface="微软雅黑"/>
              </a:rPr>
              <a:t>0.7×贝叶斯 + 0.3×规则置信，对命中故障加权修正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486400"/>
            <a:ext cx="5285232" cy="896112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18504" y="5696712"/>
            <a:ext cx="475488" cy="475488"/>
          </a:xfrm>
          <a:prstGeom prst="ellipse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18504" y="5696712"/>
            <a:ext cx="475488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577840"/>
            <a:ext cx="4370832" cy="7498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212529"/>
                </a:solidFill>
                <a:latin typeface="微软雅黑"/>
              </a:rPr>
              <a:t>排序 · 分级 · 报告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495057"/>
                </a:solidFill>
                <a:latin typeface="微软雅黑"/>
              </a:rPr>
              <a:t>按融合概率排序，映射高/中/低风险，输出报告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300" b="1" i="0">
                <a:solidFill>
                  <a:srgbClr val="7E4381"/>
                </a:solidFill>
                <a:latin typeface="微软雅黑"/>
              </a:rPr>
              <a:t>故障归因方法：核心公式与诊断算例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4128"/>
            <a:ext cx="10725912" cy="19050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54335" y="411480"/>
            <a:ext cx="1188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1400" b="0" i="0">
                <a:solidFill>
                  <a:srgbClr val="6C757D"/>
                </a:solidFill>
                <a:latin typeface="微软雅黑"/>
              </a:rPr>
              <a:t>/ 核心方法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50800" cy="29260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280160"/>
            <a:ext cx="516636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212529"/>
                </a:solidFill>
                <a:latin typeface="微软雅黑"/>
              </a:rPr>
              <a:t>① 三比值法编码规则（DL/T 722 表6）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37360"/>
          <a:ext cx="53492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特征比值</a:t>
                      </a:r>
                    </a:p>
                  </a:txBody>
                  <a:tcPr>
                    <a:solidFill>
                      <a:srgbClr val="7E43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编码规则</a:t>
                      </a:r>
                    </a:p>
                  </a:txBody>
                  <a:tcPr>
                    <a:solidFill>
                      <a:srgbClr val="7E43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C₂H₂ / C₂H₄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&lt;0.1→0 ; [0.1,3)→1 ; ≥3→2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CH₄ / H₂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&lt;0.1→1 ; [0.1,1)→0 ; ≥1→2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C₂H₄ / C₂H₆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微软雅黑"/>
                        </a:rPr>
                        <a:t>&lt;1→0 ; [1,3)→1 ; ≥3→2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3401568"/>
            <a:ext cx="50800" cy="29260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3383280"/>
            <a:ext cx="516636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212529"/>
                </a:solidFill>
                <a:latin typeface="微软雅黑"/>
              </a:rPr>
              <a:t>② 朴素贝叶斯后验推理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349240" cy="822960"/>
          </a:xfrm>
          <a:prstGeom prst="roundRect">
            <a:avLst/>
          </a:prstGeom>
          <a:solidFill>
            <a:srgbClr val="F3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5349240" cy="8229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900" b="1" i="0">
                <a:solidFill>
                  <a:srgbClr val="5E3061"/>
                </a:solidFill>
                <a:latin typeface="微软雅黑"/>
              </a:rPr>
              <a:t>P(Fᵢ | E) ∝ P(Fᵢ) · ∏ P(eⱼ | Fᵢ)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534924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7E4381"/>
                </a:solidFill>
                <a:latin typeface="微软雅黑"/>
              </a:rPr>
              <a:t>• P(Fᵢ) </a:t>
            </a:r>
            <a:r>
              <a:rPr sz="1200" b="0" i="0">
                <a:solidFill>
                  <a:srgbClr val="495057"/>
                </a:solidFill>
                <a:latin typeface="微软雅黑"/>
              </a:rPr>
              <a:t>故障先验（常见程度，如绝缘老化 0.18）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7E4381"/>
                </a:solidFill>
                <a:latin typeface="微软雅黑"/>
              </a:rPr>
              <a:t>• P(eⱼ|Fᵢ) </a:t>
            </a:r>
            <a:r>
              <a:rPr sz="1200" b="0" i="0">
                <a:solidFill>
                  <a:srgbClr val="495057"/>
                </a:solidFill>
                <a:latin typeface="微软雅黑"/>
              </a:rPr>
              <a:t>条件概率表 CPT（故障发生时征兆出现概率）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495057"/>
                </a:solidFill>
                <a:latin typeface="微软雅黑"/>
              </a:rPr>
              <a:t>• 仅对观测征兆连乘，最后归一化为概率分布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298448"/>
            <a:ext cx="50800" cy="29260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280160"/>
            <a:ext cx="493776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212529"/>
                </a:solidFill>
                <a:latin typeface="微软雅黑"/>
              </a:rPr>
              <a:t>③ 规则—概率融合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20640" cy="1097280"/>
          </a:xfrm>
          <a:prstGeom prst="roundRect">
            <a:avLst/>
          </a:prstGeom>
          <a:solidFill>
            <a:srgbClr val="F3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810512"/>
            <a:ext cx="5120640" cy="85055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1" i="0" dirty="0" err="1">
                <a:solidFill>
                  <a:srgbClr val="5E3061"/>
                </a:solidFill>
                <a:latin typeface="微软雅黑"/>
              </a:rPr>
              <a:t>P_fused</a:t>
            </a:r>
            <a:r>
              <a:rPr sz="1500" b="1" i="0" dirty="0">
                <a:solidFill>
                  <a:srgbClr val="5E3061"/>
                </a:solidFill>
                <a:latin typeface="微软雅黑"/>
              </a:rPr>
              <a:t>(Fᵢ) =</a:t>
            </a:r>
          </a:p>
          <a:p>
            <a:pPr lvl="1">
              <a:lnSpc>
                <a:spcPct val="108000"/>
              </a:lnSpc>
              <a:spcAft>
                <a:spcPts val="200"/>
              </a:spcAft>
            </a:pPr>
            <a:r>
              <a:rPr sz="1600" b="1" i="0" dirty="0">
                <a:solidFill>
                  <a:srgbClr val="5E3061"/>
                </a:solidFill>
                <a:latin typeface="微软雅黑"/>
              </a:rPr>
              <a:t>0.7·P_bayes + 0.3·P_rule </a:t>
            </a:r>
            <a:r>
              <a:rPr sz="1100" b="0" i="0" dirty="0">
                <a:solidFill>
                  <a:srgbClr val="6C757D"/>
                </a:solidFill>
                <a:latin typeface="微软雅黑"/>
              </a:rPr>
              <a:t>（</a:t>
            </a:r>
            <a:r>
              <a:rPr sz="1100" b="0" i="0" dirty="0" err="1">
                <a:solidFill>
                  <a:srgbClr val="6C757D"/>
                </a:solidFill>
                <a:latin typeface="微软雅黑"/>
              </a:rPr>
              <a:t>命中规则</a:t>
            </a:r>
            <a:r>
              <a:rPr sz="1100" b="0" i="0" dirty="0">
                <a:solidFill>
                  <a:srgbClr val="6C757D"/>
                </a:solidFill>
                <a:latin typeface="微软雅黑"/>
              </a:rPr>
              <a:t>）</a:t>
            </a:r>
          </a:p>
          <a:p>
            <a:pPr lvl="1">
              <a:lnSpc>
                <a:spcPct val="108000"/>
              </a:lnSpc>
              <a:spcAft>
                <a:spcPts val="200"/>
              </a:spcAft>
            </a:pPr>
            <a:r>
              <a:rPr sz="1500" b="1" i="0" dirty="0" err="1">
                <a:solidFill>
                  <a:srgbClr val="5E3061"/>
                </a:solidFill>
                <a:latin typeface="微软雅黑"/>
              </a:rPr>
              <a:t>P_bayes</a:t>
            </a:r>
            <a:r>
              <a:rPr sz="1500" b="1" i="0" dirty="0">
                <a:solidFill>
                  <a:srgbClr val="5E3061"/>
                </a:solidFill>
                <a:latin typeface="微软雅黑"/>
              </a:rPr>
              <a:t> </a:t>
            </a:r>
            <a:r>
              <a:rPr sz="1100" b="0" i="0" dirty="0">
                <a:solidFill>
                  <a:srgbClr val="6C757D"/>
                </a:solidFill>
                <a:latin typeface="微软雅黑"/>
              </a:rPr>
              <a:t>（</a:t>
            </a:r>
            <a:r>
              <a:rPr sz="1100" b="0" i="0" dirty="0" err="1">
                <a:solidFill>
                  <a:srgbClr val="6C757D"/>
                </a:solidFill>
                <a:latin typeface="微软雅黑"/>
              </a:rPr>
              <a:t>未命中规则</a:t>
            </a:r>
            <a:r>
              <a:rPr sz="1100" b="0" i="0" dirty="0">
                <a:solidFill>
                  <a:srgbClr val="6C757D"/>
                </a:solidFill>
                <a:latin typeface="微软雅黑"/>
              </a:rPr>
              <a:t>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80360"/>
            <a:ext cx="5120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0" i="1">
                <a:solidFill>
                  <a:srgbClr val="6C757D"/>
                </a:solidFill>
                <a:latin typeface="微软雅黑"/>
              </a:rPr>
              <a:t>以数据驱动概率为主(70%)，国标规则经验修正(30%)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401568"/>
            <a:ext cx="50800" cy="292608"/>
          </a:xfrm>
          <a:prstGeom prst="rect">
            <a:avLst/>
          </a:prstGeom>
          <a:solidFill>
            <a:srgbClr val="7E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01384" y="3383280"/>
            <a:ext cx="493776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212529"/>
                </a:solidFill>
                <a:latin typeface="微软雅黑"/>
              </a:rPr>
              <a:t>诊断算例：典型绕组匝间短路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840480"/>
            <a:ext cx="5120640" cy="233172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7E4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6248" y="3977639"/>
            <a:ext cx="4718304" cy="2103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50" b="1" i="0">
                <a:solidFill>
                  <a:srgbClr val="7E4381"/>
                </a:solidFill>
                <a:latin typeface="微软雅黑"/>
              </a:rPr>
              <a:t>输入 DGA(μL/L)：</a:t>
            </a:r>
            <a:r>
              <a:rPr sz="1200" b="0" i="0">
                <a:solidFill>
                  <a:srgbClr val="212529"/>
                </a:solidFill>
                <a:latin typeface="微软雅黑"/>
              </a:rPr>
              <a:t>H₂=620, CH₄=180,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 i="0">
                <a:solidFill>
                  <a:srgbClr val="212529"/>
                </a:solidFill>
                <a:latin typeface="微软雅黑"/>
              </a:rPr>
              <a:t>                C₂H₂=240, C₂H₄=300, C₂H₆=85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 i="0">
                <a:solidFill>
                  <a:srgbClr val="495057"/>
                </a:solidFill>
                <a:latin typeface="微软雅黑"/>
              </a:rPr>
              <a:t>① 编码 [1,0,2] → 命中“电弧放电”规则(0.93)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 i="0">
                <a:solidFill>
                  <a:srgbClr val="495057"/>
                </a:solidFill>
                <a:latin typeface="微软雅黑"/>
              </a:rPr>
              <a:t>② 多征兆超标，短路 CPT 似然高(0.85~0.90)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 i="0">
                <a:solidFill>
                  <a:srgbClr val="495057"/>
                </a:solidFill>
                <a:latin typeface="微软雅黑"/>
              </a:rPr>
              <a:t>③ 融合：0.7·P_bayes + 0.3·0.93 → 概率抬升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50" b="1" i="0">
                <a:solidFill>
                  <a:srgbClr val="7E4381"/>
                </a:solidFill>
                <a:latin typeface="微软雅黑"/>
              </a:rPr>
              <a:t>④ 输出：</a:t>
            </a:r>
            <a:r>
              <a:rPr sz="1250" b="1" i="0">
                <a:solidFill>
                  <a:srgbClr val="5E3061"/>
                </a:solidFill>
                <a:latin typeface="微软雅黑"/>
              </a:rPr>
              <a:t>绕组匝间短路 排名第1 【高风险】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682</Words>
  <Application>Microsoft Macintosh PowerPoint</Application>
  <PresentationFormat>宽屏</PresentationFormat>
  <Paragraphs>142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T204385</cp:lastModifiedBy>
  <cp:revision>2</cp:revision>
  <dcterms:created xsi:type="dcterms:W3CDTF">2013-01-27T09:14:16Z</dcterms:created>
  <dcterms:modified xsi:type="dcterms:W3CDTF">2026-06-16T09:16:49Z</dcterms:modified>
  <cp:category/>
</cp:coreProperties>
</file>